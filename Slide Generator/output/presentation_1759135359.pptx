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77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2801600" y="6400800"/>
            <a:ext cx="2286000" cy="2286000"/>
          </a:xfrm>
          <a:prstGeom prst="ellipse">
            <a:avLst/>
          </a:prstGeom>
          <a:solidFill>
            <a:srgbClr val="77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2801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6000">
                <a:solidFill>
                  <a:srgbClr val="333333"/>
                </a:solidFill>
              </a:defRPr>
            </a:pPr>
            <a:r>
              <a:t>Artificial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777777"/>
                </a:solidFill>
              </a:defRPr>
            </a:pPr>
            <a:r>
              <a:t>An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77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2801600" y="6400800"/>
            <a:ext cx="2286000" cy="2286000"/>
          </a:xfrm>
          <a:prstGeom prst="ellipse">
            <a:avLst/>
          </a:prstGeom>
          <a:solidFill>
            <a:srgbClr val="77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400">
                <a:solidFill>
                  <a:srgbClr val="777777"/>
                </a:solidFill>
              </a:defRPr>
            </a:pPr>
            <a:r>
              <a:t>Artificial Intelligence (Part 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011680"/>
            <a:ext cx="123444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200"/>
              </a:spcAft>
              <a:defRPr sz="2800">
                <a:solidFill>
                  <a:srgbClr val="333333"/>
                </a:solidFill>
              </a:defRPr>
            </a:pPr>
            <a:r>
              <a:t>•  Definition and core concepts</a:t>
            </a:r>
          </a:p>
          <a:p>
            <a:pPr>
              <a:spcAft>
                <a:spcPts val="1200"/>
              </a:spcAft>
              <a:defRPr sz="2800">
                <a:solidFill>
                  <a:srgbClr val="333333"/>
                </a:solidFill>
              </a:defRPr>
            </a:pPr>
            <a:r>
              <a:t>•  Brief history and milestones</a:t>
            </a:r>
          </a:p>
          <a:p>
            <a:pPr>
              <a:spcAft>
                <a:spcPts val="1200"/>
              </a:spcAft>
              <a:defRPr sz="2800">
                <a:solidFill>
                  <a:srgbClr val="333333"/>
                </a:solidFill>
              </a:defRPr>
            </a:pPr>
            <a:r>
              <a:t>•  Key technologies (Machine Learning, Deep Learning)</a:t>
            </a:r>
          </a:p>
          <a:p>
            <a:pPr>
              <a:spcAft>
                <a:spcPts val="1200"/>
              </a:spcAft>
              <a:defRPr sz="2800">
                <a:solidFill>
                  <a:srgbClr val="333333"/>
                </a:solidFill>
              </a:defRPr>
            </a:pPr>
            <a:r>
              <a:t>•  Major applications across industries</a:t>
            </a:r>
          </a:p>
          <a:p>
            <a:pPr>
              <a:spcAft>
                <a:spcPts val="1200"/>
              </a:spcAft>
              <a:defRPr sz="2800">
                <a:solidFill>
                  <a:srgbClr val="333333"/>
                </a:solidFill>
              </a:defRPr>
            </a:pPr>
            <a:r>
              <a:t>•  Benefits and opportunities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77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2801600" y="6400800"/>
            <a:ext cx="2286000" cy="2286000"/>
          </a:xfrm>
          <a:prstGeom prst="ellipse">
            <a:avLst/>
          </a:prstGeom>
          <a:solidFill>
            <a:srgbClr val="77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400">
                <a:solidFill>
                  <a:srgbClr val="777777"/>
                </a:solidFill>
              </a:defRPr>
            </a:pPr>
            <a:r>
              <a:t>Artificial Intelligence (Part 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011680"/>
            <a:ext cx="123444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200"/>
              </a:spcAft>
              <a:defRPr sz="2800">
                <a:solidFill>
                  <a:srgbClr val="333333"/>
                </a:solidFill>
              </a:defRPr>
            </a:pPr>
            <a:r>
              <a:t>•  Ethical considerations and bias</a:t>
            </a:r>
          </a:p>
          <a:p>
            <a:pPr>
              <a:spcAft>
                <a:spcPts val="1200"/>
              </a:spcAft>
              <a:defRPr sz="2800">
                <a:solidFill>
                  <a:srgbClr val="333333"/>
                </a:solidFill>
              </a:defRPr>
            </a:pPr>
            <a:r>
              <a:t>•  Challenges and limitations</a:t>
            </a:r>
          </a:p>
          <a:p>
            <a:pPr>
              <a:spcAft>
                <a:spcPts val="1200"/>
              </a:spcAft>
              <a:defRPr sz="2800">
                <a:solidFill>
                  <a:srgbClr val="333333"/>
                </a:solidFill>
              </a:defRPr>
            </a:pPr>
            <a:r>
              <a:t>•  Future trends and research directions</a:t>
            </a:r>
          </a:p>
          <a:p>
            <a:pPr>
              <a:spcAft>
                <a:spcPts val="1200"/>
              </a:spcAft>
              <a:defRPr sz="2800">
                <a:solidFill>
                  <a:srgbClr val="333333"/>
                </a:solidFill>
              </a:defRPr>
            </a:pPr>
            <a:r>
              <a:t>•  Impact on workforce and jobs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77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2801600" y="6400800"/>
            <a:ext cx="2286000" cy="2286000"/>
          </a:xfrm>
          <a:prstGeom prst="ellipse">
            <a:avLst/>
          </a:prstGeom>
          <a:solidFill>
            <a:srgbClr val="77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2801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6600">
                <a:solidFill>
                  <a:srgbClr val="333333"/>
                </a:solidFill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280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3200">
                <a:solidFill>
                  <a:srgbClr val="777777"/>
                </a:solidFill>
              </a:defRPr>
            </a:pPr>
            <a:r>
              <a:t>+91 81481 01923</a:t>
            </a:r>
          </a:p>
          <a:p>
            <a:pPr algn="ctr">
              <a:defRPr sz="3200">
                <a:solidFill>
                  <a:srgbClr val="777777"/>
                </a:solidFill>
              </a:defRPr>
            </a:pPr>
            <a:r>
              <a:t>sales@codework.ai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