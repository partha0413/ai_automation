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6000">
                <a:solidFill>
                  <a:srgbClr val="006400"/>
                </a:solidFill>
              </a:defRPr>
            </a:pPr>
            <a:r>
              <a:t>Artificial Intelligence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3CB371"/>
                </a:solidFill>
              </a:defRPr>
            </a:pPr>
            <a:r>
              <a:t>An Introduction to AI Concepts and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3CB371"/>
                </a:solidFill>
              </a:defRPr>
            </a:pPr>
            <a:r>
              <a:t>What is Artificial Intelligence?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Field of science building machines that reason, learn, act like humans</a:t>
            </a:r>
          </a:p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Requires data scale beyond human analysis</a:t>
            </a:r>
          </a:p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Encompasses CS, data analytics, hardware, linguistics, neuroscience, philosophy</a:t>
            </a:r>
          </a:p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Business uses: machine learning, deep learning for analytics, predictions, NLP, recommendations</a:t>
            </a:r>
          </a:p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Core principle: data-driven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3CB371"/>
                </a:solidFill>
              </a:defRPr>
            </a:pPr>
            <a:r>
              <a:t>How AI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Relies on data exposure to identify patterns</a:t>
            </a:r>
          </a:p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Algorithms guide analysis and decision-making</a:t>
            </a:r>
          </a:p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Machine learning trains on labeled/unlabeled data</a:t>
            </a:r>
          </a:p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Deep learning uses multi-layer neural networks</a:t>
            </a:r>
          </a:p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Continuous learning improves task 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3CB371"/>
                </a:solidFill>
              </a:defRPr>
            </a:pPr>
            <a:r>
              <a:t>Stages of AI Development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Reactive machines: preprogrammed, no memory</a:t>
            </a:r>
          </a:p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Limited memory: uses past data to improve</a:t>
            </a:r>
          </a:p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Example: Deep Blue</a:t>
            </a:r>
          </a:p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Limited memory includes most modern AI</a:t>
            </a:r>
          </a:p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Reactive machines respond only to stimuli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3CB371"/>
                </a:solidFill>
              </a:defRPr>
            </a:pPr>
            <a:r>
              <a:t>Stages of AI Development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Theory of mind: emulates human mind, decision-making, emotions</a:t>
            </a:r>
          </a:p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Self-aware: mythical, aware of own existence</a:t>
            </a:r>
          </a:p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Both not yet exist</a:t>
            </a:r>
          </a:p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AI currently narrow: performs specific tasks</a:t>
            </a:r>
          </a:p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AGI and ASI: future possibilities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3CB371"/>
                </a:solidFill>
              </a:defRPr>
            </a:pPr>
            <a:r>
              <a:t>Types of AI by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Narrow AI: specialized tasks (object classification, NLP)</a:t>
            </a:r>
          </a:p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Predictive analytics, virtual assistants</a:t>
            </a:r>
          </a:p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AGI: human-like sense, think, act</a:t>
            </a:r>
          </a:p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ASI: superior to humans</a:t>
            </a:r>
          </a:p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Current AI is narrow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3CB371"/>
                </a:solidFill>
              </a:defRPr>
            </a:pPr>
            <a:r>
              <a:t>Machine Learning Learning Models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Supervised learning: labeled data maps input to output</a:t>
            </a:r>
          </a:p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Unsupervised learning: discovers patterns in unlabeled data</a:t>
            </a:r>
          </a:p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Semi-supervised learning: mix of labeled and unlabeled</a:t>
            </a:r>
          </a:p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Reinforcement learning: learn by doing, trial and error</a:t>
            </a:r>
          </a:p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Agents receive positive/negative reinforcement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3CB371"/>
                </a:solidFill>
              </a:defRPr>
            </a:pPr>
            <a:r>
              <a:t>Artificial Neural Networks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Based on human brain, artificial neurons (perceptrons)</a:t>
            </a:r>
          </a:p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Data flows through layers, final output</a:t>
            </a:r>
          </a:p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Deep neural networks &gt;3 layers</a:t>
            </a:r>
          </a:p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Types include feedforward, recurrent, LSTM, CNN, GAN</a:t>
            </a:r>
          </a:p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Each type suited to specific tasks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3CB371"/>
                </a:solidFill>
              </a:defRPr>
            </a:pPr>
            <a:r>
              <a:t>Common ANN Types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Feedforward neural networks: data flows one way</a:t>
            </a:r>
          </a:p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Deep feedforward uses multiple hidden layers</a:t>
            </a:r>
          </a:p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Uses backpropagation for error correction</a:t>
            </a:r>
          </a:p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Simple but powerful</a:t>
            </a:r>
          </a:p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Used in classification tasks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3CB371"/>
                </a:solidFill>
              </a:defRPr>
            </a:pPr>
            <a:r>
              <a:t>Common ANN Types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Recurrent neural networks: handle sequences, time series</a:t>
            </a:r>
          </a:p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Memory of previous layers</a:t>
            </a:r>
          </a:p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Used for speech recognition, translation, image captioning</a:t>
            </a:r>
          </a:p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LSTM: advanced RNN with memory cells</a:t>
            </a:r>
          </a:p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LSTM good for long-term dependencies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3CB371"/>
                </a:solidFill>
              </a:defRPr>
            </a:pPr>
            <a:r>
              <a:t>Common ANN Types (Part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Convolutional neural networks: image recognition</a:t>
            </a:r>
          </a:p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Convolutional layer extracts features</a:t>
            </a:r>
          </a:p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Pooling layer reduces dimensionality</a:t>
            </a:r>
          </a:p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Fully connected layer produces final output</a:t>
            </a:r>
          </a:p>
          <a:p>
            <a:pPr>
              <a:spcAft>
                <a:spcPts val="1200"/>
              </a:spcAft>
              <a:defRPr sz="2800">
                <a:solidFill>
                  <a:srgbClr val="006400"/>
                </a:solidFill>
              </a:defRPr>
            </a:pPr>
            <a:r>
              <a:t>GANs: generator vs discriminator for realistic outputs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600">
                <a:solidFill>
                  <a:srgbClr val="006400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>
                <a:solidFill>
                  <a:srgbClr val="3CB371"/>
                </a:solidFill>
              </a:defRPr>
            </a:pPr>
            <a:r>
              <a:t>+91 81481 01923</a:t>
            </a:r>
          </a:p>
          <a:p>
            <a:pPr algn="ctr">
              <a:defRPr sz="3200">
                <a:solidFill>
                  <a:srgbClr val="3CB371"/>
                </a:solidFill>
              </a:defRPr>
            </a:pPr>
            <a:r>
              <a:t>sales@codework.ai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