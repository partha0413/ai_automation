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003366"/>
                </a:solidFill>
              </a:defRPr>
            </a:pPr>
            <a:r>
              <a:t>Understanding Software Bugs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AEEF"/>
                </a:solidFill>
              </a:defRPr>
            </a:pPr>
            <a:r>
              <a:t>Causes, Detection, and Prevention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00AEEF"/>
                </a:solidFill>
              </a:defRPr>
            </a:pPr>
            <a:r>
              <a:t>What is a Bug?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A defect causing unintended behavior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Can affect functionality, performance, or security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Often introduced during coding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May go unnoticed until production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Historically coined by Grace Hopper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00AEEF"/>
                </a:solidFill>
              </a:defRPr>
            </a:pPr>
            <a:r>
              <a:t>Common Types of Bugs (Part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Syntax errors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Logic errors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Runtime errors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Performance bugs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Security vulnerabilities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00AEEF"/>
                </a:solidFill>
              </a:defRPr>
            </a:pPr>
            <a:r>
              <a:t>Common Types of Bugs (Part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Concurrency bugs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Memory leaks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UI glitches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Compatibility issues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Configuration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00AEEF"/>
                </a:solidFill>
              </a:defRPr>
            </a:pPr>
            <a:r>
              <a:t>Root Causes of Bugs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Ambiguous requirements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Inadequate design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Poor coding practices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Insufficient testing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Changing specifications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00AEEF"/>
                </a:solidFill>
              </a:defRPr>
            </a:pPr>
            <a:r>
              <a:t>Bug Detection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Code reviews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Static analysis tools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Unit testing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Integration testing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Automated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00AEEF"/>
                </a:solidFill>
              </a:defRPr>
            </a:pPr>
            <a:r>
              <a:t>Debugging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Reproduce the issue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Log analysis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Set breakpoints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Binary search the code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Fix and verify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00AEEF"/>
                </a:solidFill>
              </a:defRPr>
            </a:pPr>
            <a:r>
              <a:t>Prevention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Clear requirements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Design reviews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Coding standards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Test‑driven development</a:t>
            </a:r>
          </a:p>
          <a:p>
            <a:pPr>
              <a:spcAft>
                <a:spcPts val="1200"/>
              </a:spcAft>
              <a:defRPr sz="2800">
                <a:solidFill>
                  <a:srgbClr val="003366"/>
                </a:solidFill>
              </a:defRPr>
            </a:pPr>
            <a:r>
              <a:t>•  Continuous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00AEEF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00AEEF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