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0" y="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18288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0" y="36576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0" y="54864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0" y="73152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28800" y="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828800" y="18288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828800" y="36576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828800" y="54864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828800" y="73152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57600" y="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57600" y="18288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57600" y="36576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57600" y="54864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57600" y="73152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486400" y="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486400" y="18288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486400" y="36576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486400" y="54864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486400" y="73152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315200" y="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315200" y="18288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0" y="36576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15200" y="54864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315200" y="73152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44000" y="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144000" y="18288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44000" y="36576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44000" y="54864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144000" y="73152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972800" y="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972800" y="18288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972800" y="36576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972800" y="54864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972800" y="73152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2801600" y="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2801600" y="18288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2801600" y="36576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2801600" y="54864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2801600" y="73152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2743200"/>
            <a:ext cx="12801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6000">
                <a:solidFill>
                  <a:srgbClr val="EAEAEA"/>
                </a:solidFill>
              </a:defRPr>
            </a:pPr>
            <a:r>
              <a:t>Artificial Intelligence Overview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45720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D700"/>
                </a:solidFill>
              </a:defRPr>
            </a:pPr>
            <a:r>
              <a:t>Key Concepts and Applications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0" y="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18288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0" y="36576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0" y="54864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0" y="73152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28800" y="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828800" y="18288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828800" y="36576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828800" y="54864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828800" y="73152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57600" y="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57600" y="18288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57600" y="36576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57600" y="54864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57600" y="73152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486400" y="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486400" y="18288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486400" y="36576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486400" y="54864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486400" y="73152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315200" y="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315200" y="18288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0" y="36576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15200" y="54864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315200" y="73152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44000" y="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144000" y="18288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44000" y="36576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44000" y="54864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144000" y="73152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972800" y="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972800" y="18288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972800" y="36576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972800" y="54864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972800" y="73152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2801600" y="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2801600" y="18288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2801600" y="36576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2801600" y="54864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2801600" y="73152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400">
                <a:solidFill>
                  <a:srgbClr val="FFD700"/>
                </a:solidFill>
              </a:defRPr>
            </a:pPr>
            <a:r>
              <a:t>AI Definition &amp; Scope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71600" y="2011680"/>
            <a:ext cx="123444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EAEAEA"/>
                </a:solidFill>
              </a:defRPr>
            </a:pPr>
            <a:r>
              <a:t>•  AI is a field building computers that reason, learn, act like humans</a:t>
            </a:r>
          </a:p>
          <a:p>
            <a:pPr>
              <a:spcAft>
                <a:spcPts val="1200"/>
              </a:spcAft>
              <a:defRPr sz="2800">
                <a:solidFill>
                  <a:srgbClr val="EAEAEA"/>
                </a:solidFill>
              </a:defRPr>
            </a:pPr>
            <a:r>
              <a:t>•  Involves data at scale beyond human analysis</a:t>
            </a:r>
          </a:p>
          <a:p>
            <a:pPr>
              <a:spcAft>
                <a:spcPts val="1200"/>
              </a:spcAft>
              <a:defRPr sz="2800">
                <a:solidFill>
                  <a:srgbClr val="EAEAEA"/>
                </a:solidFill>
              </a:defRPr>
            </a:pPr>
            <a:r>
              <a:t>•  Encompasses CS, data analytics, stats, engineering, linguistics, neuroscience, philosophy, psychology</a:t>
            </a:r>
          </a:p>
          <a:p>
            <a:pPr>
              <a:spcAft>
                <a:spcPts val="1200"/>
              </a:spcAft>
              <a:defRPr sz="2800">
                <a:solidFill>
                  <a:srgbClr val="EAEAEA"/>
                </a:solidFill>
              </a:defRPr>
            </a:pPr>
            <a:r>
              <a:t>•  Operational AI uses ML &amp; DL for analytics, predictions, categorization, NLP, recommendations, intelligent retrieval</a:t>
            </a:r>
          </a:p>
          <a:p>
            <a:pPr>
              <a:spcAft>
                <a:spcPts val="1200"/>
              </a:spcAft>
              <a:defRPr sz="2800">
                <a:solidFill>
                  <a:srgbClr val="EAEAEA"/>
                </a:solidFill>
              </a:defRPr>
            </a:pPr>
            <a:r>
              <a:t>•  AI aims to automate tasks that normally require human intelligence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0" y="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18288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0" y="36576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0" y="54864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0" y="73152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28800" y="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828800" y="18288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828800" y="36576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828800" y="54864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828800" y="73152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57600" y="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57600" y="18288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57600" y="36576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57600" y="54864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57600" y="73152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486400" y="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486400" y="18288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486400" y="36576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486400" y="54864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486400" y="73152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315200" y="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315200" y="18288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0" y="36576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15200" y="54864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315200" y="73152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44000" y="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144000" y="18288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44000" y="36576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44000" y="54864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144000" y="73152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972800" y="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972800" y="18288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972800" y="36576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972800" y="54864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972800" y="73152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2801600" y="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2801600" y="18288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2801600" y="36576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2801600" y="54864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2801600" y="73152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400">
                <a:solidFill>
                  <a:srgbClr val="FFD700"/>
                </a:solidFill>
              </a:defRPr>
            </a:pPr>
            <a:r>
              <a:t>How AI Works (Part 1)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71600" y="2011680"/>
            <a:ext cx="123444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EAEAEA"/>
                </a:solidFill>
              </a:defRPr>
            </a:pPr>
            <a:r>
              <a:t>•  Core principle revolves around data</a:t>
            </a:r>
          </a:p>
          <a:p>
            <a:pPr>
              <a:spcAft>
                <a:spcPts val="1200"/>
              </a:spcAft>
              <a:defRPr sz="2800">
                <a:solidFill>
                  <a:srgbClr val="EAEAEA"/>
                </a:solidFill>
              </a:defRPr>
            </a:pPr>
            <a:r>
              <a:t>•  AI learns patterns and relationships from large datasets</a:t>
            </a:r>
          </a:p>
          <a:p>
            <a:pPr>
              <a:spcAft>
                <a:spcPts val="1200"/>
              </a:spcAft>
              <a:defRPr sz="2800">
                <a:solidFill>
                  <a:srgbClr val="EAEAEA"/>
                </a:solidFill>
              </a:defRPr>
            </a:pPr>
            <a:r>
              <a:t>•  Algorithms guide analysis and decision‑making</a:t>
            </a:r>
          </a:p>
          <a:p>
            <a:pPr>
              <a:spcAft>
                <a:spcPts val="1200"/>
              </a:spcAft>
              <a:defRPr sz="2800">
                <a:solidFill>
                  <a:srgbClr val="EAEAEA"/>
                </a:solidFill>
              </a:defRPr>
            </a:pPr>
            <a:r>
              <a:t>•  Machine learning trains algorithms on labeled or unlabeled data</a:t>
            </a:r>
          </a:p>
          <a:p>
            <a:pPr>
              <a:spcAft>
                <a:spcPts val="1200"/>
              </a:spcAft>
              <a:defRPr sz="2800">
                <a:solidFill>
                  <a:srgbClr val="EAEAEA"/>
                </a:solidFill>
              </a:defRPr>
            </a:pPr>
            <a:r>
              <a:t>•  Deep learning uses multi‑layer neural networks mimicking the brain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0" y="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18288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0" y="36576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0" y="54864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0" y="73152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28800" y="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828800" y="18288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828800" y="36576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828800" y="54864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828800" y="73152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57600" y="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57600" y="18288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57600" y="36576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57600" y="54864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57600" y="73152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486400" y="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486400" y="18288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486400" y="36576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486400" y="54864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486400" y="73152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315200" y="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315200" y="18288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0" y="36576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15200" y="54864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315200" y="73152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44000" y="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144000" y="18288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44000" y="36576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44000" y="54864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144000" y="73152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972800" y="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972800" y="18288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972800" y="36576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972800" y="54864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972800" y="73152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2801600" y="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2801600" y="18288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2801600" y="36576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2801600" y="54864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2801600" y="73152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400">
                <a:solidFill>
                  <a:srgbClr val="FFD700"/>
                </a:solidFill>
              </a:defRPr>
            </a:pPr>
            <a:r>
              <a:t>How AI Works (Part 2)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71600" y="2011680"/>
            <a:ext cx="123444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EAEAEA"/>
                </a:solidFill>
              </a:defRPr>
            </a:pPr>
            <a:r>
              <a:t>•  Continuous learning improves performance over time</a:t>
            </a:r>
          </a:p>
          <a:p>
            <a:pPr>
              <a:spcAft>
                <a:spcPts val="1200"/>
              </a:spcAft>
              <a:defRPr sz="2800">
                <a:solidFill>
                  <a:srgbClr val="EAEAEA"/>
                </a:solidFill>
              </a:defRPr>
            </a:pPr>
            <a:r>
              <a:t>•  Applications include image recognition, language translation, etc.</a:t>
            </a:r>
          </a:p>
          <a:p>
            <a:pPr>
              <a:spcAft>
                <a:spcPts val="1200"/>
              </a:spcAft>
              <a:defRPr sz="2800">
                <a:solidFill>
                  <a:srgbClr val="EAEAEA"/>
                </a:solidFill>
              </a:defRPr>
            </a:pPr>
            <a:r>
              <a:t>•  Models adapt through feedback loops and optimization</a:t>
            </a:r>
          </a:p>
          <a:p>
            <a:pPr>
              <a:spcAft>
                <a:spcPts val="1200"/>
              </a:spcAft>
              <a:defRPr sz="2800">
                <a:solidFill>
                  <a:srgbClr val="EAEAEA"/>
                </a:solidFill>
              </a:defRPr>
            </a:pPr>
            <a:r>
              <a:t>•  Training requires computational resources and quality data</a:t>
            </a:r>
          </a:p>
          <a:p>
            <a:pPr>
              <a:spcAft>
                <a:spcPts val="1200"/>
              </a:spcAft>
              <a:defRPr sz="2800">
                <a:solidFill>
                  <a:srgbClr val="EAEAEA"/>
                </a:solidFill>
              </a:defRPr>
            </a:pPr>
            <a:r>
              <a:t>•  Deployment integrates models into business processes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0" y="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18288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0" y="36576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0" y="54864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0" y="73152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28800" y="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828800" y="18288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828800" y="36576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828800" y="54864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828800" y="73152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57600" y="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57600" y="18288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57600" y="36576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57600" y="54864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57600" y="73152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486400" y="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486400" y="18288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486400" y="36576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486400" y="54864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486400" y="73152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315200" y="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315200" y="18288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0" y="36576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15200" y="54864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315200" y="73152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44000" y="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144000" y="18288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44000" y="36576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44000" y="54864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144000" y="73152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972800" y="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972800" y="18288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972800" y="36576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972800" y="54864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972800" y="73152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2801600" y="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2801600" y="18288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2801600" y="36576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2801600" y="54864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2801600" y="73152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400">
                <a:solidFill>
                  <a:srgbClr val="FFD700"/>
                </a:solidFill>
              </a:defRPr>
            </a:pPr>
            <a:r>
              <a:t>Getting Started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71600" y="2011680"/>
            <a:ext cx="123444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EAEAEA"/>
                </a:solidFill>
              </a:defRPr>
            </a:pPr>
            <a:r>
              <a:t>•  Free beginner’s introduction to generative AI available</a:t>
            </a:r>
          </a:p>
          <a:p>
            <a:pPr>
              <a:spcAft>
                <a:spcPts val="1200"/>
              </a:spcAft>
              <a:defRPr sz="2800">
                <a:solidFill>
                  <a:srgbClr val="EAEAEA"/>
                </a:solidFill>
              </a:defRPr>
            </a:pPr>
            <a:r>
              <a:t>•  Start with online tutorials and hands‑on labs</a:t>
            </a:r>
          </a:p>
          <a:p>
            <a:pPr>
              <a:spcAft>
                <a:spcPts val="1200"/>
              </a:spcAft>
              <a:defRPr sz="2800">
                <a:solidFill>
                  <a:srgbClr val="EAEAEA"/>
                </a:solidFill>
              </a:defRPr>
            </a:pPr>
            <a:r>
              <a:t>•  Identify a simple business problem to solve</a:t>
            </a:r>
          </a:p>
          <a:p>
            <a:pPr>
              <a:spcAft>
                <a:spcPts val="1200"/>
              </a:spcAft>
              <a:defRPr sz="2800">
                <a:solidFill>
                  <a:srgbClr val="EAEAEA"/>
                </a:solidFill>
              </a:defRPr>
            </a:pPr>
            <a:r>
              <a:t>•  Gather and label relevant data</a:t>
            </a:r>
          </a:p>
          <a:p>
            <a:pPr>
              <a:spcAft>
                <a:spcPts val="1200"/>
              </a:spcAft>
              <a:defRPr sz="2800">
                <a:solidFill>
                  <a:srgbClr val="EAEAEA"/>
                </a:solidFill>
              </a:defRPr>
            </a:pPr>
            <a:r>
              <a:t>•  Experiment with pre‑built ML libraries (e.g., TensorFlow, PyTorch)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0" y="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18288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0" y="36576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0" y="54864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0" y="73152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28800" y="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828800" y="18288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828800" y="36576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828800" y="54864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828800" y="73152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57600" y="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57600" y="18288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57600" y="36576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57600" y="54864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57600" y="73152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486400" y="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486400" y="18288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486400" y="36576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486400" y="54864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486400" y="73152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315200" y="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315200" y="18288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0" y="36576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15200" y="54864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315200" y="73152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44000" y="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144000" y="18288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44000" y="36576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44000" y="54864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144000" y="73152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972800" y="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972800" y="18288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972800" y="36576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972800" y="54864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972800" y="73152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2801600" y="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2801600" y="18288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2801600" y="36576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2801600" y="54864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2801600" y="73152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400">
                <a:solidFill>
                  <a:srgbClr val="FFD700"/>
                </a:solidFill>
              </a:defRPr>
            </a:pPr>
            <a:r>
              <a:t>AI Development Stages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71600" y="2011680"/>
            <a:ext cx="123444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EAEAEA"/>
                </a:solidFill>
              </a:defRPr>
            </a:pPr>
            <a:r>
              <a:t>•  Reactive machines: preprogrammed rules, no memory (e.g., Deep Blue)</a:t>
            </a:r>
          </a:p>
          <a:p>
            <a:pPr>
              <a:spcAft>
                <a:spcPts val="1200"/>
              </a:spcAft>
              <a:defRPr sz="2800">
                <a:solidFill>
                  <a:srgbClr val="EAEAEA"/>
                </a:solidFill>
              </a:defRPr>
            </a:pPr>
            <a:r>
              <a:t>•  Limited memory: learns from new data, most modern AI</a:t>
            </a:r>
          </a:p>
          <a:p>
            <a:pPr>
              <a:spcAft>
                <a:spcPts val="1200"/>
              </a:spcAft>
              <a:defRPr sz="2800">
                <a:solidFill>
                  <a:srgbClr val="EAEAEA"/>
                </a:solidFill>
              </a:defRPr>
            </a:pPr>
            <a:r>
              <a:t>•  Theory of mind: hypothesized ability to understand emotions, not yet existent</a:t>
            </a:r>
          </a:p>
          <a:p>
            <a:pPr>
              <a:spcAft>
                <a:spcPts val="1200"/>
              </a:spcAft>
              <a:defRPr sz="2800">
                <a:solidFill>
                  <a:srgbClr val="EAEAEA"/>
                </a:solidFill>
              </a:defRPr>
            </a:pPr>
            <a:r>
              <a:t>•  Self‑aware: mythical AI with consciousness, does not exist</a:t>
            </a:r>
          </a:p>
          <a:p>
            <a:pPr>
              <a:spcAft>
                <a:spcPts val="1200"/>
              </a:spcAft>
              <a:defRPr sz="2800">
                <a:solidFill>
                  <a:srgbClr val="EAEAEA"/>
                </a:solidFill>
              </a:defRPr>
            </a:pPr>
            <a:r>
              <a:t>•  Current AI is primarily limited‑memory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0" y="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18288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0" y="36576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0" y="54864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0" y="73152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28800" y="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828800" y="18288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828800" y="36576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828800" y="54864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828800" y="73152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57600" y="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57600" y="18288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57600" y="36576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57600" y="54864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57600" y="73152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486400" y="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486400" y="18288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486400" y="36576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486400" y="54864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486400" y="73152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315200" y="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315200" y="18288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0" y="36576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15200" y="54864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315200" y="73152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44000" y="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144000" y="18288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44000" y="36576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44000" y="54864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144000" y="73152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972800" y="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972800" y="18288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972800" y="36576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972800" y="54864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972800" y="73152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2801600" y="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2801600" y="18288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2801600" y="36576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2801600" y="54864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2801600" y="73152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400">
                <a:solidFill>
                  <a:srgbClr val="FFD700"/>
                </a:solidFill>
              </a:defRPr>
            </a:pPr>
            <a:r>
              <a:t>AI Capability Categories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71600" y="2011680"/>
            <a:ext cx="123444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EAEAEA"/>
                </a:solidFill>
              </a:defRPr>
            </a:pPr>
            <a:r>
              <a:t>•  Narrow AI: performs specific tasks (e.g., image classification, virtual assistants)</a:t>
            </a:r>
          </a:p>
          <a:p>
            <a:pPr>
              <a:spcAft>
                <a:spcPts val="1200"/>
              </a:spcAft>
              <a:defRPr sz="2800">
                <a:solidFill>
                  <a:srgbClr val="EAEAEA"/>
                </a:solidFill>
              </a:defRPr>
            </a:pPr>
            <a:r>
              <a:t>•  Artificial General Intelligence (AGI): human‑level reasoning, not yet existing</a:t>
            </a:r>
          </a:p>
          <a:p>
            <a:pPr>
              <a:spcAft>
                <a:spcPts val="1200"/>
              </a:spcAft>
              <a:defRPr sz="2800">
                <a:solidFill>
                  <a:srgbClr val="EAEAEA"/>
                </a:solidFill>
              </a:defRPr>
            </a:pPr>
            <a:r>
              <a:t>•  Artificial Superintelligence (ASI): surpasses human abilities, speculative</a:t>
            </a:r>
          </a:p>
          <a:p>
            <a:pPr>
              <a:spcAft>
                <a:spcPts val="1200"/>
              </a:spcAft>
              <a:defRPr sz="2800">
                <a:solidFill>
                  <a:srgbClr val="EAEAEA"/>
                </a:solidFill>
              </a:defRPr>
            </a:pPr>
            <a:r>
              <a:t>•  Each level requires increasing autonomy and understanding</a:t>
            </a:r>
          </a:p>
          <a:p>
            <a:pPr>
              <a:spcAft>
                <a:spcPts val="1200"/>
              </a:spcAft>
              <a:defRPr sz="2800">
                <a:solidFill>
                  <a:srgbClr val="EAEAEA"/>
                </a:solidFill>
              </a:defRPr>
            </a:pPr>
            <a:r>
              <a:t>•  Transition from narrow to general remains a research frontier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0" y="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18288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0" y="36576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0" y="54864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0" y="73152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28800" y="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828800" y="18288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828800" y="36576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828800" y="54864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828800" y="73152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57600" y="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57600" y="18288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57600" y="36576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57600" y="54864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57600" y="73152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486400" y="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486400" y="18288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486400" y="36576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486400" y="54864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486400" y="73152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315200" y="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315200" y="18288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0" y="36576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15200" y="54864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315200" y="73152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44000" y="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144000" y="18288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44000" y="36576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44000" y="54864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144000" y="73152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972800" y="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972800" y="18288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972800" y="36576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972800" y="54864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972800" y="73152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2801600" y="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2801600" y="18288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2801600" y="36576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2801600" y="54864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2801600" y="73152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400">
                <a:solidFill>
                  <a:srgbClr val="FFD700"/>
                </a:solidFill>
              </a:defRPr>
            </a:pPr>
            <a:r>
              <a:t>Machine Learning Models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71600" y="2011680"/>
            <a:ext cx="123444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EAEAEA"/>
                </a:solidFill>
              </a:defRPr>
            </a:pPr>
            <a:r>
              <a:t>•  Supervised learning: maps inputs to outputs using labeled data</a:t>
            </a:r>
          </a:p>
          <a:p>
            <a:pPr>
              <a:spcAft>
                <a:spcPts val="1200"/>
              </a:spcAft>
              <a:defRPr sz="2800">
                <a:solidFill>
                  <a:srgbClr val="EAEAEA"/>
                </a:solidFill>
              </a:defRPr>
            </a:pPr>
            <a:r>
              <a:t>•  Unsupervised learning: discovers patterns in unlabeled data</a:t>
            </a:r>
          </a:p>
          <a:p>
            <a:pPr>
              <a:spcAft>
                <a:spcPts val="1200"/>
              </a:spcAft>
              <a:defRPr sz="2800">
                <a:solidFill>
                  <a:srgbClr val="EAEAEA"/>
                </a:solidFill>
              </a:defRPr>
            </a:pPr>
            <a:r>
              <a:t>•  Semi‑supervised learning: mixes labeled and unlabeled data</a:t>
            </a:r>
          </a:p>
          <a:p>
            <a:pPr>
              <a:spcAft>
                <a:spcPts val="1200"/>
              </a:spcAft>
              <a:defRPr sz="2800">
                <a:solidFill>
                  <a:srgbClr val="EAEAEA"/>
                </a:solidFill>
              </a:defRPr>
            </a:pPr>
            <a:r>
              <a:t>•  Reinforcement learning: learns by trial‑and‑error feedback</a:t>
            </a:r>
          </a:p>
          <a:p>
            <a:pPr>
              <a:spcAft>
                <a:spcPts val="1200"/>
              </a:spcAft>
              <a:defRPr sz="2800">
                <a:solidFill>
                  <a:srgbClr val="EAEAEA"/>
                </a:solidFill>
              </a:defRPr>
            </a:pPr>
            <a:r>
              <a:t>•  Models chosen based on problem type and data availability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0" y="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18288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0" y="36576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0" y="54864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0" y="73152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28800" y="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828800" y="18288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828800" y="36576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828800" y="54864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828800" y="73152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57600" y="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57600" y="18288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57600" y="36576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57600" y="54864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57600" y="73152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486400" y="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486400" y="18288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486400" y="36576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486400" y="54864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486400" y="73152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315200" y="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315200" y="18288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0" y="36576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15200" y="54864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315200" y="73152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44000" y="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144000" y="18288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44000" y="36576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44000" y="54864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144000" y="73152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972800" y="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972800" y="18288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972800" y="36576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972800" y="54864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972800" y="73152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2801600" y="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2801600" y="18288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2801600" y="36576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2801600" y="54864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2801600" y="73152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400">
                <a:solidFill>
                  <a:srgbClr val="FFD700"/>
                </a:solidFill>
              </a:defRPr>
            </a:pPr>
            <a:r>
              <a:t>Neural Network Basics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71600" y="2011680"/>
            <a:ext cx="123444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EAEAEA"/>
                </a:solidFill>
              </a:defRPr>
            </a:pPr>
            <a:r>
              <a:t>•  Artificial neural networks mimic brain neurons</a:t>
            </a:r>
          </a:p>
          <a:p>
            <a:pPr>
              <a:spcAft>
                <a:spcPts val="1200"/>
              </a:spcAft>
              <a:defRPr sz="2800">
                <a:solidFill>
                  <a:srgbClr val="EAEAEA"/>
                </a:solidFill>
              </a:defRPr>
            </a:pPr>
            <a:r>
              <a:t>•  Consist of layers of perceptrons that process data sequentially</a:t>
            </a:r>
          </a:p>
          <a:p>
            <a:pPr>
              <a:spcAft>
                <a:spcPts val="1200"/>
              </a:spcAft>
              <a:defRPr sz="2800">
                <a:solidFill>
                  <a:srgbClr val="EAEAEA"/>
                </a:solidFill>
              </a:defRPr>
            </a:pPr>
            <a:r>
              <a:t>•  Deep neural networks have many hidden layers</a:t>
            </a:r>
          </a:p>
          <a:p>
            <a:pPr>
              <a:spcAft>
                <a:spcPts val="1200"/>
              </a:spcAft>
              <a:defRPr sz="2800">
                <a:solidFill>
                  <a:srgbClr val="EAEAEA"/>
                </a:solidFill>
              </a:defRPr>
            </a:pPr>
            <a:r>
              <a:t>•  Training adjusts weights to minimize error</a:t>
            </a:r>
          </a:p>
          <a:p>
            <a:pPr>
              <a:spcAft>
                <a:spcPts val="1200"/>
              </a:spcAft>
              <a:defRPr sz="2800">
                <a:solidFill>
                  <a:srgbClr val="EAEAEA"/>
                </a:solidFill>
              </a:defRPr>
            </a:pPr>
            <a:r>
              <a:t>•  Used for classification, pattern detection, and more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0" y="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18288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0" y="36576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0" y="54864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0" y="73152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28800" y="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828800" y="18288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828800" y="36576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828800" y="54864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828800" y="73152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57600" y="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57600" y="18288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57600" y="36576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57600" y="54864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57600" y="73152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486400" y="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486400" y="18288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486400" y="36576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486400" y="54864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486400" y="73152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315200" y="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315200" y="18288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0" y="36576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15200" y="54864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315200" y="73152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44000" y="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144000" y="18288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44000" y="36576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44000" y="54864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144000" y="73152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972800" y="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972800" y="18288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972800" y="36576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972800" y="54864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972800" y="73152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2801600" y="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2801600" y="18288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2801600" y="36576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2801600" y="54864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2801600" y="73152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400">
                <a:solidFill>
                  <a:srgbClr val="FFD700"/>
                </a:solidFill>
              </a:defRPr>
            </a:pPr>
            <a:r>
              <a:t>Feedforward Neural Networks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71600" y="2011680"/>
            <a:ext cx="123444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EAEAEA"/>
                </a:solidFill>
              </a:defRPr>
            </a:pPr>
            <a:r>
              <a:t>•  Data flows one direction from input to output</a:t>
            </a:r>
          </a:p>
          <a:p>
            <a:pPr>
              <a:spcAft>
                <a:spcPts val="1200"/>
              </a:spcAft>
              <a:defRPr sz="2800">
                <a:solidFill>
                  <a:srgbClr val="EAEAEA"/>
                </a:solidFill>
              </a:defRPr>
            </a:pPr>
            <a:r>
              <a:t>•  Often deep feedforward with multiple hidden layers</a:t>
            </a:r>
          </a:p>
          <a:p>
            <a:pPr>
              <a:spcAft>
                <a:spcPts val="1200"/>
              </a:spcAft>
              <a:defRPr sz="2800">
                <a:solidFill>
                  <a:srgbClr val="EAEAEA"/>
                </a:solidFill>
              </a:defRPr>
            </a:pPr>
            <a:r>
              <a:t>•  Trained using backpropagation error‑correction</a:t>
            </a:r>
          </a:p>
          <a:p>
            <a:pPr>
              <a:spcAft>
                <a:spcPts val="1200"/>
              </a:spcAft>
              <a:defRPr sz="2800">
                <a:solidFill>
                  <a:srgbClr val="EAEAEA"/>
                </a:solidFill>
              </a:defRPr>
            </a:pPr>
            <a:r>
              <a:t>•  Suitable for static pattern recognition tasks</a:t>
            </a:r>
          </a:p>
          <a:p>
            <a:pPr>
              <a:spcAft>
                <a:spcPts val="1200"/>
              </a:spcAft>
              <a:defRPr sz="2800">
                <a:solidFill>
                  <a:srgbClr val="EAEAEA"/>
                </a:solidFill>
              </a:defRPr>
            </a:pPr>
            <a:r>
              <a:t>•  Foundation for many modern architectures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0" y="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18288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0" y="36576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0" y="54864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0" y="73152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28800" y="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828800" y="18288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828800" y="36576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828800" y="54864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828800" y="73152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57600" y="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57600" y="18288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57600" y="36576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57600" y="54864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57600" y="73152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486400" y="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486400" y="18288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486400" y="36576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486400" y="54864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486400" y="73152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315200" y="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315200" y="18288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0" y="36576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15200" y="54864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315200" y="73152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44000" y="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144000" y="18288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44000" y="36576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44000" y="54864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144000" y="73152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972800" y="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972800" y="18288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972800" y="36576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972800" y="54864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972800" y="73152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2801600" y="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2801600" y="18288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2801600" y="36576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2801600" y="54864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2801600" y="73152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400">
                <a:solidFill>
                  <a:srgbClr val="FFD700"/>
                </a:solidFill>
              </a:defRPr>
            </a:pPr>
            <a:r>
              <a:t>Recurrent &amp; LSTM Networks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71600" y="2011680"/>
            <a:ext cx="123444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EAEAEA"/>
                </a:solidFill>
              </a:defRPr>
            </a:pPr>
            <a:r>
              <a:t>•  Recurrent networks handle sequential data and retain memory of previous steps</a:t>
            </a:r>
          </a:p>
          <a:p>
            <a:pPr>
              <a:spcAft>
                <a:spcPts val="1200"/>
              </a:spcAft>
              <a:defRPr sz="2800">
                <a:solidFill>
                  <a:srgbClr val="EAEAEA"/>
                </a:solidFill>
              </a:defRPr>
            </a:pPr>
            <a:r>
              <a:t>•  LSTM extends RNN with memory cells for long‑term dependencies</a:t>
            </a:r>
          </a:p>
          <a:p>
            <a:pPr>
              <a:spcAft>
                <a:spcPts val="1200"/>
              </a:spcAft>
              <a:defRPr sz="2800">
                <a:solidFill>
                  <a:srgbClr val="EAEAEA"/>
                </a:solidFill>
              </a:defRPr>
            </a:pPr>
            <a:r>
              <a:t>•  Applications: speech recognition, language translation, time‑series prediction</a:t>
            </a:r>
          </a:p>
          <a:p>
            <a:pPr>
              <a:spcAft>
                <a:spcPts val="1200"/>
              </a:spcAft>
              <a:defRPr sz="2800">
                <a:solidFill>
                  <a:srgbClr val="EAEAEA"/>
                </a:solidFill>
              </a:defRPr>
            </a:pPr>
            <a:r>
              <a:t>•  Enables context‑aware processing</a:t>
            </a:r>
          </a:p>
          <a:p>
            <a:pPr>
              <a:spcAft>
                <a:spcPts val="1200"/>
              </a:spcAft>
              <a:defRPr sz="2800">
                <a:solidFill>
                  <a:srgbClr val="EAEAEA"/>
                </a:solidFill>
              </a:defRPr>
            </a:pPr>
            <a:r>
              <a:t>•  Improves performance on tasks requiring sequence awareness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0" y="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18288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0" y="36576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0" y="54864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0" y="73152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28800" y="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828800" y="18288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828800" y="36576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828800" y="54864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828800" y="73152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57600" y="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57600" y="18288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57600" y="36576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57600" y="54864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57600" y="73152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486400" y="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486400" y="18288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486400" y="36576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486400" y="54864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486400" y="73152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315200" y="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315200" y="18288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0" y="36576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15200" y="54864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315200" y="73152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44000" y="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144000" y="18288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44000" y="36576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44000" y="54864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144000" y="73152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972800" y="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972800" y="18288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972800" y="36576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972800" y="54864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972800" y="73152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2801600" y="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2801600" y="18288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2801600" y="36576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2801600" y="54864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2801600" y="73152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400">
                <a:solidFill>
                  <a:srgbClr val="FFD700"/>
                </a:solidFill>
              </a:defRPr>
            </a:pPr>
            <a:r>
              <a:t>Convolutional Neural Networks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71600" y="2011680"/>
            <a:ext cx="123444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EAEAEA"/>
                </a:solidFill>
              </a:defRPr>
            </a:pPr>
            <a:r>
              <a:t>•  Designed for image and visual data processing</a:t>
            </a:r>
          </a:p>
          <a:p>
            <a:pPr>
              <a:spcAft>
                <a:spcPts val="1200"/>
              </a:spcAft>
              <a:defRPr sz="2800">
                <a:solidFill>
                  <a:srgbClr val="EAEAEA"/>
                </a:solidFill>
              </a:defRPr>
            </a:pPr>
            <a:r>
              <a:t>•  Uses convolutional layers to detect features, pooling layers to reduce dimensionality</a:t>
            </a:r>
          </a:p>
          <a:p>
            <a:pPr>
              <a:spcAft>
                <a:spcPts val="1200"/>
              </a:spcAft>
              <a:defRPr sz="2800">
                <a:solidFill>
                  <a:srgbClr val="EAEAEA"/>
                </a:solidFill>
              </a:defRPr>
            </a:pPr>
            <a:r>
              <a:t>•  Early layers capture edges/colors, deeper layers capture complex patterns</a:t>
            </a:r>
          </a:p>
          <a:p>
            <a:pPr>
              <a:spcAft>
                <a:spcPts val="1200"/>
              </a:spcAft>
              <a:defRPr sz="2800">
                <a:solidFill>
                  <a:srgbClr val="EAEAEA"/>
                </a:solidFill>
              </a:defRPr>
            </a:pPr>
            <a:r>
              <a:t>•  Widely used in computer vision, medical imaging, autonomous driving</a:t>
            </a:r>
          </a:p>
          <a:p>
            <a:pPr>
              <a:spcAft>
                <a:spcPts val="1200"/>
              </a:spcAft>
              <a:defRPr sz="2800">
                <a:solidFill>
                  <a:srgbClr val="EAEAEA"/>
                </a:solidFill>
              </a:defRPr>
            </a:pPr>
            <a:r>
              <a:t>•  Forms basis for many modern visual AI systems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0" y="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18288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0" y="36576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0" y="54864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0" y="73152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28800" y="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828800" y="18288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828800" y="36576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828800" y="54864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828800" y="73152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57600" y="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57600" y="18288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57600" y="36576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57600" y="54864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57600" y="73152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486400" y="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486400" y="18288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486400" y="36576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486400" y="54864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486400" y="73152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315200" y="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315200" y="18288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0" y="36576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15200" y="54864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315200" y="73152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44000" y="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144000" y="18288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44000" y="36576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44000" y="54864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144000" y="73152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972800" y="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972800" y="18288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972800" y="36576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972800" y="54864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972800" y="73152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2801600" y="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2801600" y="18288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2801600" y="36576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2801600" y="54864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2801600" y="73152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400">
                <a:solidFill>
                  <a:srgbClr val="FFD700"/>
                </a:solidFill>
              </a:defRPr>
            </a:pPr>
            <a:r>
              <a:t>Generative Adversarial Networks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71600" y="2011680"/>
            <a:ext cx="123444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EAEAEA"/>
                </a:solidFill>
              </a:defRPr>
            </a:pPr>
            <a:r>
              <a:t>•  Consist of a generator and a discriminator network</a:t>
            </a:r>
          </a:p>
          <a:p>
            <a:pPr>
              <a:spcAft>
                <a:spcPts val="1200"/>
              </a:spcAft>
              <a:defRPr sz="2800">
                <a:solidFill>
                  <a:srgbClr val="EAEAEA"/>
                </a:solidFill>
              </a:defRPr>
            </a:pPr>
            <a:r>
              <a:t>•  Networks compete, improving output realism</a:t>
            </a:r>
          </a:p>
          <a:p>
            <a:pPr>
              <a:spcAft>
                <a:spcPts val="1200"/>
              </a:spcAft>
              <a:defRPr sz="2800">
                <a:solidFill>
                  <a:srgbClr val="EAEAEA"/>
                </a:solidFill>
              </a:defRPr>
            </a:pPr>
            <a:r>
              <a:t>•  Generates realistic images, art, and synthetic data</a:t>
            </a:r>
          </a:p>
          <a:p>
            <a:pPr>
              <a:spcAft>
                <a:spcPts val="1200"/>
              </a:spcAft>
              <a:defRPr sz="2800">
                <a:solidFill>
                  <a:srgbClr val="EAEAEA"/>
                </a:solidFill>
              </a:defRPr>
            </a:pPr>
            <a:r>
              <a:t>•  Used for data augmentation and creative applications</a:t>
            </a:r>
          </a:p>
          <a:p>
            <a:pPr>
              <a:spcAft>
                <a:spcPts val="1200"/>
              </a:spcAft>
              <a:defRPr sz="2800">
                <a:solidFill>
                  <a:srgbClr val="EAEAEA"/>
                </a:solidFill>
              </a:defRPr>
            </a:pPr>
            <a:r>
              <a:t>•  Highlights adversarial training paradigm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0" y="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18288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0" y="36576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0" y="54864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0" y="73152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28800" y="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828800" y="18288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828800" y="36576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828800" y="54864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828800" y="73152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57600" y="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57600" y="18288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57600" y="36576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57600" y="54864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57600" y="73152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486400" y="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486400" y="18288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486400" y="36576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486400" y="54864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486400" y="73152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315200" y="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315200" y="18288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0" y="36576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15200" y="54864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315200" y="73152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44000" y="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144000" y="18288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44000" y="36576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44000" y="54864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144000" y="73152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972800" y="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972800" y="18288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972800" y="36576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972800" y="54864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972800" y="73152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2801600" y="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2801600" y="18288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2801600" y="36576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2801600" y="54864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2801600" y="73152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400">
                <a:solidFill>
                  <a:srgbClr val="FFD700"/>
                </a:solidFill>
              </a:defRPr>
            </a:pPr>
            <a:r>
              <a:t>Benefits of AI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71600" y="2011680"/>
            <a:ext cx="123444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EAEAEA"/>
                </a:solidFill>
              </a:defRPr>
            </a:pPr>
            <a:r>
              <a:t>•  Automates repetitive tasks, freeing human talent</a:t>
            </a:r>
          </a:p>
          <a:p>
            <a:pPr>
              <a:spcAft>
                <a:spcPts val="1200"/>
              </a:spcAft>
              <a:defRPr sz="2800">
                <a:solidFill>
                  <a:srgbClr val="EAEAEA"/>
                </a:solidFill>
              </a:defRPr>
            </a:pPr>
            <a:r>
              <a:t>•  Enhances decision‑making with predictive insights</a:t>
            </a:r>
          </a:p>
          <a:p>
            <a:pPr>
              <a:spcAft>
                <a:spcPts val="1200"/>
              </a:spcAft>
              <a:defRPr sz="2800">
                <a:solidFill>
                  <a:srgbClr val="EAEAEA"/>
                </a:solidFill>
              </a:defRPr>
            </a:pPr>
            <a:r>
              <a:t>•  Scales analysis of massive datasets quickly</a:t>
            </a:r>
          </a:p>
          <a:p>
            <a:pPr>
              <a:spcAft>
                <a:spcPts val="1200"/>
              </a:spcAft>
              <a:defRPr sz="2800">
                <a:solidFill>
                  <a:srgbClr val="EAEAEA"/>
                </a:solidFill>
              </a:defRPr>
            </a:pPr>
            <a:r>
              <a:t>•  Improves customer experiences via personalization</a:t>
            </a:r>
          </a:p>
          <a:p>
            <a:pPr>
              <a:spcAft>
                <a:spcPts val="1200"/>
              </a:spcAft>
              <a:defRPr sz="2800">
                <a:solidFill>
                  <a:srgbClr val="EAEAEA"/>
                </a:solidFill>
              </a:defRPr>
            </a:pPr>
            <a:r>
              <a:t>•  Drives innovation and new business models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0" y="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18288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0" y="36576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0" y="54864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0" y="73152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28800" y="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828800" y="18288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828800" y="36576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828800" y="54864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828800" y="73152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57600" y="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57600" y="18288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57600" y="36576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57600" y="54864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57600" y="73152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486400" y="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486400" y="18288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486400" y="36576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486400" y="54864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486400" y="73152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315200" y="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315200" y="18288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0" y="36576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15200" y="54864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315200" y="73152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44000" y="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144000" y="18288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44000" y="36576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44000" y="54864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144000" y="73152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972800" y="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972800" y="18288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972800" y="36576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972800" y="54864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972800" y="73152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2801600" y="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2801600" y="18288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2801600" y="36576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2801600" y="54864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2801600" y="731520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2743200"/>
            <a:ext cx="12801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6600">
                <a:solidFill>
                  <a:srgbClr val="EAEAEA"/>
                </a:solidFill>
              </a:defRPr>
            </a:pPr>
            <a:r>
              <a:t>Thank You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45720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3200">
                <a:solidFill>
                  <a:srgbClr val="FFD700"/>
                </a:solidFill>
              </a:defRPr>
            </a:pPr>
            <a:r>
              <a:t>+91 81481 01923</a:t>
            </a:r>
          </a:p>
          <a:p>
            <a:pPr algn="ctr">
              <a:defRPr sz="3200">
                <a:solidFill>
                  <a:srgbClr val="FFD700"/>
                </a:solidFill>
              </a:defRPr>
            </a:pPr>
            <a:r>
              <a:t>sales@codework.ai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